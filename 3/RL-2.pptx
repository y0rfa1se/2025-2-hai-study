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FAD8-2486-5608-433D-73FECB40A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BD907-5BBB-09E1-8D8C-37866A28B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90399-5E0E-09C0-FB6E-BB527C7F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D1E6-DDFC-084A-A51E-F9163D7E761D}" type="datetimeFigureOut">
              <a:rPr lang="en-KR" smtClean="0"/>
              <a:t>9/25/25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6F3D1-7B32-0CB0-BF8B-CAEBDD79D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9DF4C-3D12-37CC-E664-C931C08F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5FEB-4781-EC4B-A95B-5F70609FA39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59310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5F478-BB86-E54F-4BC2-EA0E5A13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E33BF-F973-2E7A-06EB-44175BE64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B235B-1986-C5D1-8CFE-466B17306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D1E6-DDFC-084A-A51E-F9163D7E761D}" type="datetimeFigureOut">
              <a:rPr lang="en-KR" smtClean="0"/>
              <a:t>9/25/25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0BB72-139C-8914-9E6D-82BE01869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34078-0ACC-6C76-3699-F0FAAF13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5FEB-4781-EC4B-A95B-5F70609FA39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8774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67115-BE7F-67D8-391E-19498300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9FCBE-7A8E-8E32-D133-440EEB0EC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8F8EE-6D9C-F1FD-5778-2BAE5C1D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D1E6-DDFC-084A-A51E-F9163D7E761D}" type="datetimeFigureOut">
              <a:rPr lang="en-KR" smtClean="0"/>
              <a:t>9/25/25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64724-0C40-128F-5D9B-78458FBF1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6E345-60F4-CF88-19BE-4C255DA9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5FEB-4781-EC4B-A95B-5F70609FA39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30938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AA574-10D2-014E-BAEB-E3B4D4034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DD3A9-A884-050A-CC31-E71A0D8BF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2D09F-D1D7-FBFD-9FFB-EBB1CE1BD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50798-916A-55B8-8434-6A1B3780D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D1E6-DDFC-084A-A51E-F9163D7E761D}" type="datetimeFigureOut">
              <a:rPr lang="en-KR" smtClean="0"/>
              <a:t>9/25/25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FC355-E272-0B4A-FA52-E7F1F564C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204EF-1B4A-99BA-E5C1-2C159BB9E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5FEB-4781-EC4B-A95B-5F70609FA39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5149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6C8D8-3435-6100-7F73-6A58F50B3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5F111-F108-88D7-B360-AE7A8AE4E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F90F4-73DA-ACDD-CD57-FEBB95485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15E403-F518-09EA-DE46-B2218F8C25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2AEF66-C510-CFA8-666B-5CFC45B10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515E1A-D4C6-C888-E441-F971E237B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D1E6-DDFC-084A-A51E-F9163D7E761D}" type="datetimeFigureOut">
              <a:rPr lang="en-KR" smtClean="0"/>
              <a:t>9/25/25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192D64-92AA-ED9B-3579-52B5F146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6472B-E3D9-B510-DCBE-9ED711927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5FEB-4781-EC4B-A95B-5F70609FA39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46325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79CA-042D-C492-A350-FDAA4C48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A4D4FD-9FAB-B2A1-AE7A-60795161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D1E6-DDFC-084A-A51E-F9163D7E761D}" type="datetimeFigureOut">
              <a:rPr lang="en-KR" smtClean="0"/>
              <a:t>9/25/25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75133-9EB5-0101-7023-B0F8553D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E48699-CD33-3191-A1B8-02545F3D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5FEB-4781-EC4B-A95B-5F70609FA39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3381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E8F682-BF2E-4DA4-58E7-978D2C85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D1E6-DDFC-084A-A51E-F9163D7E761D}" type="datetimeFigureOut">
              <a:rPr lang="en-KR" smtClean="0"/>
              <a:t>9/25/25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D14BE6-3EA0-349C-5298-46B2C72A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33DD3-9F04-C8E3-F26B-1CCA8BA7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5FEB-4781-EC4B-A95B-5F70609FA39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65714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21561-AB3E-7CA1-9B9D-2D77FAE87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EF5C-A796-06C7-725E-298593F8A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C82C8-5FBA-F99F-71EF-7EFD4A2A9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42510-7E50-0F07-D8C0-00DF52604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D1E6-DDFC-084A-A51E-F9163D7E761D}" type="datetimeFigureOut">
              <a:rPr lang="en-KR" smtClean="0"/>
              <a:t>9/25/25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E36CD-1BEC-2D26-36EB-046888E53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36796-FC74-7F86-C34B-9C49F9FFA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5FEB-4781-EC4B-A95B-5F70609FA39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0513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7C563-6F07-3421-9A35-2AD68C0E4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9836D2-522E-A15E-F029-7C0E56A5B0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84DCC0-004D-3CE6-BC80-461467D8B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E13B2-EE11-C8B1-CEA7-DDE651F0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D1E6-DDFC-084A-A51E-F9163D7E761D}" type="datetimeFigureOut">
              <a:rPr lang="en-KR" smtClean="0"/>
              <a:t>9/25/25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9FA57-EA76-F923-1EB5-27334734F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78186-4562-E5D7-7B3F-504AD631F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5FEB-4781-EC4B-A95B-5F70609FA39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0426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D593-E5BD-363E-A314-95225916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E2B81-4E10-6657-71BE-367549728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5251A-67FC-7429-A1F6-AF4C7CB87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D1E6-DDFC-084A-A51E-F9163D7E761D}" type="datetimeFigureOut">
              <a:rPr lang="en-KR" smtClean="0"/>
              <a:t>9/25/25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2C3A8-FE0A-B65E-2463-7CDB46124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8F242-A17F-9558-14D5-46BA085F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5FEB-4781-EC4B-A95B-5F70609FA39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50249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D3ADEE-BD55-19A1-CC79-AB1163E66F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600F2-712B-0E26-F4D0-251FD80BF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D6C0B-8414-B6AF-3B02-BFF667346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D1E6-DDFC-084A-A51E-F9163D7E761D}" type="datetimeFigureOut">
              <a:rPr lang="en-KR" smtClean="0"/>
              <a:t>9/25/25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E6D47-4C57-8636-5FED-312BC6066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04CDA-5EAA-54E0-1542-F50CA027D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5FEB-4781-EC4B-A95B-5F70609FA39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85311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32D18C-7285-1E0E-9C90-E7E565C6C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97CA8-D5A9-1366-B066-E0CEA4141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A7DFD-C7A5-DFDE-04C9-263C98E64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DD1E6-DDFC-084A-A51E-F9163D7E761D}" type="datetimeFigureOut">
              <a:rPr lang="en-KR" smtClean="0"/>
              <a:t>9/25/25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78950-1834-7500-F1E1-9FAFE1BDA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09DD9-0691-0107-15FD-9C42B646B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25FEB-4781-EC4B-A95B-5F70609FA39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42927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EA5B-2FAD-CC78-9FA4-48EB39B741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R" dirty="0"/>
              <a:t>RL-2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1BC0F-B754-8F2A-3745-0DD5BCA4C4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1888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531CF-665A-245D-46BA-C007B7B4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Model-Based</a:t>
            </a:r>
          </a:p>
        </p:txBody>
      </p:sp>
      <p:pic>
        <p:nvPicPr>
          <p:cNvPr id="5" name="Content Placeholder 4" descr="A diagram of mathematical equations&#10;&#10;AI-generated content may be incorrect.">
            <a:extLst>
              <a:ext uri="{FF2B5EF4-FFF2-40B4-BE49-F238E27FC236}">
                <a16:creationId xmlns:a16="http://schemas.microsoft.com/office/drawing/2014/main" id="{18BB30AE-E55F-0745-AC40-33FCF6681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860" y="1697960"/>
            <a:ext cx="5954181" cy="3462080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4732E0-B69D-FB76-8265-E9BE7FA13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041" y="2014087"/>
            <a:ext cx="5390474" cy="282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310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33D6C-F912-1641-6679-30825F1CD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Model</a:t>
            </a:r>
            <a:r>
              <a:rPr lang="en-US" altLang="ko-KR" dirty="0"/>
              <a:t>-</a:t>
            </a:r>
            <a:r>
              <a:rPr lang="en-KR" dirty="0"/>
              <a:t>Free - Example</a:t>
            </a:r>
          </a:p>
        </p:txBody>
      </p:sp>
      <p:pic>
        <p:nvPicPr>
          <p:cNvPr id="5" name="Content Placeholder 4" descr="A game board with a black circle&#10;&#10;AI-generated content may be incorrect.">
            <a:extLst>
              <a:ext uri="{FF2B5EF4-FFF2-40B4-BE49-F238E27FC236}">
                <a16:creationId xmlns:a16="http://schemas.microsoft.com/office/drawing/2014/main" id="{7CDC6CA3-8219-1C74-1073-A37608387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0661" y="2778620"/>
            <a:ext cx="3080448" cy="3066848"/>
          </a:xfrm>
        </p:spPr>
      </p:pic>
      <p:pic>
        <p:nvPicPr>
          <p:cNvPr id="7" name="Picture 6" descr="A game board with a black and white circle&#10;&#10;AI-generated content may be incorrect.">
            <a:extLst>
              <a:ext uri="{FF2B5EF4-FFF2-40B4-BE49-F238E27FC236}">
                <a16:creationId xmlns:a16="http://schemas.microsoft.com/office/drawing/2014/main" id="{8F43FA34-B64A-2D3B-9942-04070839E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980" y="2478071"/>
            <a:ext cx="1800039" cy="1796086"/>
          </a:xfrm>
          <a:prstGeom prst="rect">
            <a:avLst/>
          </a:prstGeom>
        </p:spPr>
      </p:pic>
      <p:pic>
        <p:nvPicPr>
          <p:cNvPr id="9" name="Picture 8" descr="A game board with a grid and a few round objects&#10;&#10;AI-generated content may be incorrect.">
            <a:extLst>
              <a:ext uri="{FF2B5EF4-FFF2-40B4-BE49-F238E27FC236}">
                <a16:creationId xmlns:a16="http://schemas.microsoft.com/office/drawing/2014/main" id="{B8B0339C-80D3-A24F-98DE-330624C64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4177" y="2207949"/>
            <a:ext cx="1800039" cy="1803986"/>
          </a:xfrm>
          <a:prstGeom prst="rect">
            <a:avLst/>
          </a:prstGeom>
        </p:spPr>
      </p:pic>
      <p:pic>
        <p:nvPicPr>
          <p:cNvPr id="11" name="Picture 10" descr="A game board with a black and white game&#10;&#10;AI-generated content may be incorrect.">
            <a:extLst>
              <a:ext uri="{FF2B5EF4-FFF2-40B4-BE49-F238E27FC236}">
                <a16:creationId xmlns:a16="http://schemas.microsoft.com/office/drawing/2014/main" id="{2F578F2C-7CB3-8A6C-1BC5-47A044834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2747" y="4312044"/>
            <a:ext cx="1800038" cy="1798058"/>
          </a:xfrm>
          <a:prstGeom prst="rect">
            <a:avLst/>
          </a:prstGeom>
        </p:spPr>
      </p:pic>
      <p:pic>
        <p:nvPicPr>
          <p:cNvPr id="13" name="Picture 12" descr="A game board with a black and white circle on it&#10;&#10;AI-generated content may be incorrect.">
            <a:extLst>
              <a:ext uri="{FF2B5EF4-FFF2-40B4-BE49-F238E27FC236}">
                <a16:creationId xmlns:a16="http://schemas.microsoft.com/office/drawing/2014/main" id="{5F84BFF4-5418-7DF8-DABC-43ECDCE66F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1766" y="4593819"/>
            <a:ext cx="1784253" cy="17882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E77D9E-CF9C-C9E1-50DC-77525C54813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4251109" y="3376114"/>
            <a:ext cx="944871" cy="935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2663FF-A795-B2C2-3435-AE7B3B46C5C6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4251109" y="4312044"/>
            <a:ext cx="960657" cy="1175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03A5B0B-B81B-A939-2291-DAA6B4F049F8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6996019" y="3109942"/>
            <a:ext cx="1788158" cy="2661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8A4D337-88BE-B2F5-3E44-DC4E440CBD96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6996019" y="3376114"/>
            <a:ext cx="1796728" cy="1834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61DD826-2F65-BC02-09D8-96B4C7A2D08E}"/>
              </a:ext>
            </a:extLst>
          </p:cNvPr>
          <p:cNvSpPr txBox="1"/>
          <p:nvPr/>
        </p:nvSpPr>
        <p:spPr>
          <a:xfrm>
            <a:off x="2562447" y="169068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6218BE-CBB1-1008-E613-2D23BED6BC75}"/>
              </a:ext>
            </a:extLst>
          </p:cNvPr>
          <p:cNvSpPr txBox="1"/>
          <p:nvPr/>
        </p:nvSpPr>
        <p:spPr>
          <a:xfrm>
            <a:off x="5816813" y="18257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6CAB10-777D-0FAE-D18A-E73F44A577F7}"/>
              </a:ext>
            </a:extLst>
          </p:cNvPr>
          <p:cNvSpPr txBox="1"/>
          <p:nvPr/>
        </p:nvSpPr>
        <p:spPr>
          <a:xfrm>
            <a:off x="9387320" y="1736259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1FA832-565B-BF6B-96F7-CD0AD2402565}"/>
              </a:ext>
            </a:extLst>
          </p:cNvPr>
          <p:cNvSpPr txBox="1"/>
          <p:nvPr/>
        </p:nvSpPr>
        <p:spPr>
          <a:xfrm>
            <a:off x="7665188" y="285885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p1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1730BD-8881-0086-46C4-63C6989B59FC}"/>
              </a:ext>
            </a:extLst>
          </p:cNvPr>
          <p:cNvSpPr txBox="1"/>
          <p:nvPr/>
        </p:nvSpPr>
        <p:spPr>
          <a:xfrm>
            <a:off x="7786743" y="396099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p2</a:t>
            </a:r>
          </a:p>
        </p:txBody>
      </p:sp>
    </p:spTree>
    <p:extLst>
      <p:ext uri="{BB962C8B-B14F-4D97-AF65-F5344CB8AC3E}">
        <p14:creationId xmlns:p14="http://schemas.microsoft.com/office/powerpoint/2010/main" val="3357257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16687-A40A-4496-2639-26F6CE40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Model-Free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62F575-1134-4872-3183-BDDB95C96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64" y="1999798"/>
            <a:ext cx="5832141" cy="3061687"/>
          </a:xfrm>
          <a:prstGeom prst="rect">
            <a:avLst/>
          </a:prstGeom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51B2DA8-2AAA-9683-2CAD-5E7C52996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076491"/>
            <a:ext cx="5143500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15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87986-2896-053D-E5DC-64B4BB92D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Monte Carlo</a:t>
            </a:r>
          </a:p>
        </p:txBody>
      </p:sp>
      <p:pic>
        <p:nvPicPr>
          <p:cNvPr id="13" name="Content Placeholder 12" descr="A graph of a function&#10;&#10;AI-generated content may be incorrect.">
            <a:extLst>
              <a:ext uri="{FF2B5EF4-FFF2-40B4-BE49-F238E27FC236}">
                <a16:creationId xmlns:a16="http://schemas.microsoft.com/office/drawing/2014/main" id="{C6AF59F0-B9B9-A6D1-0325-979EE204E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8886" y="2191244"/>
            <a:ext cx="5916216" cy="3327872"/>
          </a:xfrm>
        </p:spPr>
      </p:pic>
      <p:pic>
        <p:nvPicPr>
          <p:cNvPr id="15" name="Picture 14" descr="A diagram of a diagram of a number&#10;&#10;AI-generated content may be incorrect.">
            <a:extLst>
              <a:ext uri="{FF2B5EF4-FFF2-40B4-BE49-F238E27FC236}">
                <a16:creationId xmlns:a16="http://schemas.microsoft.com/office/drawing/2014/main" id="{B22E5857-C7D2-51D6-5043-502054887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98" y="2317749"/>
            <a:ext cx="5476728" cy="332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284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1419-4FC9-8B75-ACA7-D322E3796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Monte Carlo Learning</a:t>
            </a:r>
          </a:p>
        </p:txBody>
      </p:sp>
      <p:pic>
        <p:nvPicPr>
          <p:cNvPr id="5" name="Content Placeholder 4" descr="A diagram of a diagram of a person's body&#10;&#10;AI-generated content may be incorrect.">
            <a:extLst>
              <a:ext uri="{FF2B5EF4-FFF2-40B4-BE49-F238E27FC236}">
                <a16:creationId xmlns:a16="http://schemas.microsoft.com/office/drawing/2014/main" id="{19044599-5678-2170-B4D1-881E81701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6627"/>
          <a:stretch>
            <a:fillRect/>
          </a:stretch>
        </p:blipFill>
        <p:spPr>
          <a:xfrm>
            <a:off x="6392349" y="1690688"/>
            <a:ext cx="3977940" cy="4450006"/>
          </a:xfrm>
        </p:spPr>
      </p:pic>
      <p:pic>
        <p:nvPicPr>
          <p:cNvPr id="8" name="Picture 7" descr="A diagram of a diagram of a person's body&#10;&#10;AI-generated content may be incorrect.">
            <a:extLst>
              <a:ext uri="{FF2B5EF4-FFF2-40B4-BE49-F238E27FC236}">
                <a16:creationId xmlns:a16="http://schemas.microsoft.com/office/drawing/2014/main" id="{FF488E77-0B39-5327-BFB9-4461B1DB5E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135"/>
          <a:stretch>
            <a:fillRect/>
          </a:stretch>
        </p:blipFill>
        <p:spPr>
          <a:xfrm>
            <a:off x="1353880" y="1690688"/>
            <a:ext cx="3977940" cy="451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496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340D-83D3-07ED-B233-6673AFE1C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Monte Carlo Learning</a:t>
            </a:r>
          </a:p>
        </p:txBody>
      </p:sp>
      <p:pic>
        <p:nvPicPr>
          <p:cNvPr id="5" name="Content Placeholder 4" descr="A math equations and formulas on a white background&#10;&#10;AI-generated content may be incorrect.">
            <a:extLst>
              <a:ext uri="{FF2B5EF4-FFF2-40B4-BE49-F238E27FC236}">
                <a16:creationId xmlns:a16="http://schemas.microsoft.com/office/drawing/2014/main" id="{14F799D4-24B0-6198-2DF6-309942171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989" y="2209907"/>
            <a:ext cx="5220954" cy="3276493"/>
          </a:xfrm>
        </p:spPr>
      </p:pic>
      <p:pic>
        <p:nvPicPr>
          <p:cNvPr id="7" name="Picture 6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3AE01B9E-5FD8-F0EF-3DDF-14DDD51D9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059" y="2209907"/>
            <a:ext cx="5296065" cy="31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812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70951-4EEF-9DA0-C33D-85E2402F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Technic</a:t>
            </a:r>
          </a:p>
        </p:txBody>
      </p:sp>
      <p:pic>
        <p:nvPicPr>
          <p:cNvPr id="5" name="Content Placeholder 4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5C3C5ED7-23C1-79E5-2294-A00D5D021A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8818" y="2314360"/>
            <a:ext cx="4546600" cy="2654300"/>
          </a:xfrm>
        </p:spPr>
      </p:pic>
      <p:pic>
        <p:nvPicPr>
          <p:cNvPr id="7" name="Picture 6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36F616E2-9F19-F63A-D3AB-D6F2ACE08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584" y="2301660"/>
            <a:ext cx="44831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761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FE42-9AF5-AA6B-6F9B-ADB277EF3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Policy Iteration</a:t>
            </a:r>
          </a:p>
        </p:txBody>
      </p:sp>
      <p:pic>
        <p:nvPicPr>
          <p:cNvPr id="5" name="Content Placeholder 4" descr="A diagram of a complex equation&#10;&#10;AI-generated content may be incorrect.">
            <a:extLst>
              <a:ext uri="{FF2B5EF4-FFF2-40B4-BE49-F238E27FC236}">
                <a16:creationId xmlns:a16="http://schemas.microsoft.com/office/drawing/2014/main" id="{5B7E6686-9B51-7AA4-598D-26C9D3A236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599" y="1690688"/>
            <a:ext cx="6548329" cy="4279106"/>
          </a:xfrm>
        </p:spPr>
      </p:pic>
    </p:spTree>
    <p:extLst>
      <p:ext uri="{BB962C8B-B14F-4D97-AF65-F5344CB8AC3E}">
        <p14:creationId xmlns:p14="http://schemas.microsoft.com/office/powerpoint/2010/main" val="3151971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CC582-36EF-66DE-7A32-850F0126B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Problem 1 – model-free</a:t>
            </a:r>
          </a:p>
        </p:txBody>
      </p:sp>
      <p:pic>
        <p:nvPicPr>
          <p:cNvPr id="5" name="Content Placeholder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17C63266-E29F-5127-EE2E-4A96356A94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071" y="2029355"/>
            <a:ext cx="7465948" cy="361509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E12A8A-3F06-3DFE-B714-6A4F0F89F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019" y="3504117"/>
            <a:ext cx="2908300" cy="3556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BBE5D99-416A-FADC-3CA7-16CD3CEB370E}"/>
              </a:ext>
            </a:extLst>
          </p:cNvPr>
          <p:cNvGrpSpPr/>
          <p:nvPr/>
        </p:nvGrpSpPr>
        <p:grpSpPr>
          <a:xfrm>
            <a:off x="7883019" y="2824401"/>
            <a:ext cx="3341780" cy="2024997"/>
            <a:chOff x="3594226" y="3866456"/>
            <a:chExt cx="3341780" cy="202499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ADCFCF5-B079-B810-06FF-F697D1F5D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1197" b="-20607"/>
            <a:stretch>
              <a:fillRect/>
            </a:stretch>
          </p:blipFill>
          <p:spPr>
            <a:xfrm>
              <a:off x="3594226" y="5051651"/>
              <a:ext cx="2113006" cy="513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DE1D0BA-308E-547D-1C17-309ACD66F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6677" t="-276563"/>
            <a:stretch>
              <a:fillRect/>
            </a:stretch>
          </p:blipFill>
          <p:spPr>
            <a:xfrm>
              <a:off x="5926185" y="3866456"/>
              <a:ext cx="1009821" cy="160228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5C9E729-4411-0941-E952-172BF780D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2888" r="29464" b="-126912"/>
            <a:stretch>
              <a:fillRect/>
            </a:stretch>
          </p:blipFill>
          <p:spPr>
            <a:xfrm>
              <a:off x="5695701" y="5084560"/>
              <a:ext cx="222422" cy="8068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6694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BF28-3469-8A49-716B-783B0E5DC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Problem 2 – Local optimum</a:t>
            </a:r>
          </a:p>
        </p:txBody>
      </p:sp>
      <p:pic>
        <p:nvPicPr>
          <p:cNvPr id="5" name="Content Placeholder 4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9DD281A4-8B9C-6608-CAB6-C3BEDBF868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824510" cy="4111183"/>
          </a:xfrm>
        </p:spPr>
      </p:pic>
    </p:spTree>
    <p:extLst>
      <p:ext uri="{BB962C8B-B14F-4D97-AF65-F5344CB8AC3E}">
        <p14:creationId xmlns:p14="http://schemas.microsoft.com/office/powerpoint/2010/main" val="3834098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3AA34-2335-DD0D-EAF8-96A90013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GLIE</a:t>
            </a:r>
          </a:p>
        </p:txBody>
      </p:sp>
      <p:pic>
        <p:nvPicPr>
          <p:cNvPr id="5" name="Content Placeholder 4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A8953FD9-CBEF-0D78-2999-2806C7953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9609"/>
            <a:ext cx="7667320" cy="4488657"/>
          </a:xfrm>
        </p:spPr>
      </p:pic>
    </p:spTree>
    <p:extLst>
      <p:ext uri="{BB962C8B-B14F-4D97-AF65-F5344CB8AC3E}">
        <p14:creationId xmlns:p14="http://schemas.microsoft.com/office/powerpoint/2010/main" val="3110360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92571-6A96-599E-D939-AA6B932BE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Off-Policy</a:t>
            </a:r>
          </a:p>
        </p:txBody>
      </p:sp>
      <p:pic>
        <p:nvPicPr>
          <p:cNvPr id="5" name="Content Placeholder 4" descr="A close-up of a question&#10;&#10;AI-generated content may be incorrect.">
            <a:extLst>
              <a:ext uri="{FF2B5EF4-FFF2-40B4-BE49-F238E27FC236}">
                <a16:creationId xmlns:a16="http://schemas.microsoft.com/office/drawing/2014/main" id="{7A1394BC-409E-52F8-E0D0-E5E44E01EC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823244"/>
            <a:ext cx="7750037" cy="4058572"/>
          </a:xfrm>
        </p:spPr>
      </p:pic>
    </p:spTree>
    <p:extLst>
      <p:ext uri="{BB962C8B-B14F-4D97-AF65-F5344CB8AC3E}">
        <p14:creationId xmlns:p14="http://schemas.microsoft.com/office/powerpoint/2010/main" val="1641094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3E9A-C87A-0014-C650-A563F46A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Importance Sampling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9779B1-14E1-1A09-16FC-BDCAA5E77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575" y="1967063"/>
            <a:ext cx="5393425" cy="3099207"/>
          </a:xfrm>
        </p:spPr>
      </p:pic>
      <p:pic>
        <p:nvPicPr>
          <p:cNvPr id="7" name="Picture 6" descr="A close-up of a math problem&#10;&#10;AI-generated content may be incorrect.">
            <a:extLst>
              <a:ext uri="{FF2B5EF4-FFF2-40B4-BE49-F238E27FC236}">
                <a16:creationId xmlns:a16="http://schemas.microsoft.com/office/drawing/2014/main" id="{6C5142E6-FD54-7529-95C3-691435614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625" y="1967063"/>
            <a:ext cx="51308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91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37</Words>
  <Application>Microsoft Macintosh PowerPoint</Application>
  <PresentationFormat>Widescreen</PresentationFormat>
  <Paragraphs>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RL-2</vt:lpstr>
      <vt:lpstr>Model-Based</vt:lpstr>
      <vt:lpstr>Model-Free - Example</vt:lpstr>
      <vt:lpstr>Model-Free</vt:lpstr>
      <vt:lpstr>Monte Carlo</vt:lpstr>
      <vt:lpstr>Monte Carlo Learning</vt:lpstr>
      <vt:lpstr>Monte Carlo Learning</vt:lpstr>
      <vt:lpstr>Technic</vt:lpstr>
      <vt:lpstr>Policy Iteration</vt:lpstr>
      <vt:lpstr>Problem 1 – model-free</vt:lpstr>
      <vt:lpstr>Problem 2 – Local optimum</vt:lpstr>
      <vt:lpstr>GLIE</vt:lpstr>
      <vt:lpstr>Off-Policy</vt:lpstr>
      <vt:lpstr>Importance Sampling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이은준</dc:creator>
  <cp:lastModifiedBy>이은준</cp:lastModifiedBy>
  <cp:revision>33</cp:revision>
  <dcterms:created xsi:type="dcterms:W3CDTF">2025-09-24T06:18:45Z</dcterms:created>
  <dcterms:modified xsi:type="dcterms:W3CDTF">2025-09-25T06:48:10Z</dcterms:modified>
</cp:coreProperties>
</file>