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6" r:id="rId11"/>
    <p:sldId id="264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660"/>
  </p:normalViewPr>
  <p:slideViewPr>
    <p:cSldViewPr snapToGrid="0">
      <p:cViewPr varScale="1">
        <p:scale>
          <a:sx n="125" d="100"/>
          <a:sy n="125" d="100"/>
        </p:scale>
        <p:origin x="17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1BD46-2447-7955-8EA2-34C1DF19A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25255-BADA-3C67-569C-4168D29C6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45014-7820-AF43-67B0-36F12828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5DB42-6F6A-699F-C9F6-AD46428F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568E7-0F7B-D6C1-0D1E-FA87EBEF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2787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7A68-4174-2A08-99B0-DF868678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2B51D-4B62-3354-C8B8-C0DC5EED7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825BA-D362-35FA-A76C-7A331DDE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86BF3-2711-E07C-7524-FAEB4E56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D8F10-70CA-36F1-35D0-0B040278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2461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37DE-46DC-ED90-80AA-6655AF020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2ABC7-4A6D-C7C8-3815-644A460D0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58062-AF65-09C7-DA72-1B6497E7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E1C8B-D064-583A-9335-06864898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4B2DF-C614-964C-4BEE-38495C7E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5161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70C8-DA8F-F2B1-DBE2-AB96F212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B5C01-D314-907E-AEA3-59A7C8C60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06E21-F3CD-06E0-F1CE-1AB653A55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3A55A-460D-356B-0244-E86850EA3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867CA-13D4-84FF-D103-3845586D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82546-BB6F-D829-ADDA-01F1269C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25005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A877-7930-C3DD-D9EC-283E4D04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31E40-5A7D-2F9F-C7F1-ED9459980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8CBE8-509B-A6C6-6F54-36FE0FE64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28BE2-8984-F60C-AF4D-10C120D9B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4F321-9505-DDA8-DC7A-1921507F5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6277AA-6C66-C6A6-D3AD-CA18840D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8595D-4139-D023-AD30-9C5D323C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CEDC81-C6F0-F004-C709-A666B285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48867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BC53-8B9D-E733-6DAB-BF7DD63C6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01457-D2FB-A408-8CDC-B91A5194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EB071-6EDC-4353-CD8C-65A6DEF7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561D9-C842-9D3E-5715-1937B5E9B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5917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5E2AA-431E-A91C-5188-902218225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586B35-DE73-07D0-5014-CB7CB8F1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DB226-DB06-10C0-2CDE-523731A2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8711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377C-E11E-8D3E-3C08-80A2EF35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197A5-537D-3A51-9562-C5D3A6E6F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7BCC2-45F7-5FD7-5ABB-587483914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83858-AF69-7DB4-2EB6-CB1FE254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CBDFF-B477-BADB-DD80-3CE043004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4D4D6-928D-864C-39A8-EF89A8D6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0953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0509-8697-48D2-428C-D72B5108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416DB0-8B54-C043-819E-BD91CAD18D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EE008-7FA6-45EA-39DC-3182DDE60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101FA-8D1E-932A-994E-6CC0F9A4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EB37F-0A69-165F-45ED-B364AA35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DBA0F-BEA0-C682-2055-A600AF03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8498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A562-7AD2-61EF-34A8-0A7550F7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CA57C-8279-8626-6A8B-65573DC6F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236D-9455-CF8E-D78D-4978547B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BCFBE-A7BB-F867-C205-A64AC3CFF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8A985-6687-7AC3-0719-FA8FE036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5815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E1545-DD4C-EAE9-416E-4A8D9DDCD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29AE5-AB35-1165-D17B-F14FBA706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AE7E3-ECED-F636-B3BE-7A9955A2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C6919-4DD4-AA12-DFB6-A17B60B4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0D327-E6B1-EA6E-C950-9C46F7E5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49507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3E93A3-09D6-7871-FD0A-4B9E6C0C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9B3FA-2AA9-BA25-0930-A9824D26A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9898C-4097-5FA9-B7B9-D034EAA85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6C4C3-62C3-FB47-AAFC-A9B00B9DE420}" type="datetimeFigureOut">
              <a:rPr lang="en-KR" smtClean="0"/>
              <a:t>9/13/25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9B6F5-2009-5F8C-D767-AC152542B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FC420-FFF0-AE66-B83D-F0DC34E34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D3D2A-29B4-8F4A-9129-280426319D3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4314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963A1-218D-3B7E-AD14-0AAF8830A0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KR" dirty="0"/>
              <a:t>RL-1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99457-3903-316D-0307-CA5B73968F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700951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72E29-70A2-893E-A00E-20022997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MDP (Markov Decision Process)</a:t>
            </a:r>
          </a:p>
        </p:txBody>
      </p:sp>
      <p:pic>
        <p:nvPicPr>
          <p:cNvPr id="5" name="Content Placeholder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9631D683-17F8-3F8D-4CED-F2CCA55EA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0928"/>
            <a:ext cx="7505117" cy="3990816"/>
          </a:xfrm>
        </p:spPr>
      </p:pic>
    </p:spTree>
    <p:extLst>
      <p:ext uri="{BB962C8B-B14F-4D97-AF65-F5344CB8AC3E}">
        <p14:creationId xmlns:p14="http://schemas.microsoft.com/office/powerpoint/2010/main" val="426678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FD3A-4B7A-E9BD-42F1-006E71C41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Markov Chain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4FFFF-1D7E-161C-0C2B-69BCFE4FC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58" y="1458131"/>
            <a:ext cx="7772400" cy="794259"/>
          </a:xfrm>
          <a:prstGeom prst="rect">
            <a:avLst/>
          </a:prstGeom>
        </p:spPr>
      </p:pic>
      <p:pic>
        <p:nvPicPr>
          <p:cNvPr id="6" name="Picture 5" descr="A game board with a black and white circle&#10;&#10;AI-generated content may be incorrect.">
            <a:extLst>
              <a:ext uri="{FF2B5EF4-FFF2-40B4-BE49-F238E27FC236}">
                <a16:creationId xmlns:a16="http://schemas.microsoft.com/office/drawing/2014/main" id="{9AC147D1-ABBA-4532-B54E-2E607F5DC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89" y="2426484"/>
            <a:ext cx="1850061" cy="1837823"/>
          </a:xfrm>
          <a:prstGeom prst="rect">
            <a:avLst/>
          </a:prstGeom>
        </p:spPr>
      </p:pic>
      <p:pic>
        <p:nvPicPr>
          <p:cNvPr id="8" name="Picture 7" descr="A game board with a grid and a white and black circle&#10;&#10;AI-generated content may be incorrect.">
            <a:extLst>
              <a:ext uri="{FF2B5EF4-FFF2-40B4-BE49-F238E27FC236}">
                <a16:creationId xmlns:a16="http://schemas.microsoft.com/office/drawing/2014/main" id="{37BE6525-FF1A-FCC2-2149-DD8F12CF7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283" y="2783694"/>
            <a:ext cx="3594074" cy="3562547"/>
          </a:xfrm>
          <a:prstGeom prst="rect">
            <a:avLst/>
          </a:prstGeom>
        </p:spPr>
      </p:pic>
      <p:pic>
        <p:nvPicPr>
          <p:cNvPr id="10" name="Picture 9" descr="A game board with a black and white circle&#10;&#10;AI-generated content may be incorrect.">
            <a:extLst>
              <a:ext uri="{FF2B5EF4-FFF2-40B4-BE49-F238E27FC236}">
                <a16:creationId xmlns:a16="http://schemas.microsoft.com/office/drawing/2014/main" id="{0E06F9D1-72F4-221B-2981-2CFABA176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589" y="4707178"/>
            <a:ext cx="1850061" cy="184801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BB7814-1B04-6ADD-BC9C-4E4C844FA6EF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914650" y="3345396"/>
            <a:ext cx="2166633" cy="1219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29FA94-E20E-5748-4047-40E794F80732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2914650" y="4564968"/>
            <a:ext cx="2166633" cy="1066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420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414B-B533-30F7-FF55-0EED3851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Cliff Walking</a:t>
            </a: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172A32DD-DE8E-B0B0-66DE-D15CCD396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56" y="1772768"/>
            <a:ext cx="7772400" cy="36132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394567-7EFD-0455-9D72-D8C3D0B50955}"/>
              </a:ext>
            </a:extLst>
          </p:cNvPr>
          <p:cNvSpPr txBox="1"/>
          <p:nvPr/>
        </p:nvSpPr>
        <p:spPr>
          <a:xfrm>
            <a:off x="8172450" y="2351315"/>
            <a:ext cx="35605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Rule:</a:t>
            </a:r>
          </a:p>
          <a:p>
            <a:endParaRPr lang="en-KR" dirty="0"/>
          </a:p>
          <a:p>
            <a:r>
              <a:rPr lang="en-KR" dirty="0"/>
              <a:t>   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KR" dirty="0"/>
              <a:t> S에서</a:t>
            </a:r>
            <a:r>
              <a:rPr lang="ko-KR" altLang="en-US" dirty="0"/>
              <a:t> </a:t>
            </a:r>
            <a:r>
              <a:rPr lang="en-US" altLang="ko-KR" dirty="0"/>
              <a:t>G</a:t>
            </a:r>
            <a:r>
              <a:rPr lang="ko-KR" altLang="en-US" dirty="0"/>
              <a:t> 까지 도달하면 클리어</a:t>
            </a:r>
            <a:endParaRPr lang="en-US" altLang="ko-KR" dirty="0"/>
          </a:p>
          <a:p>
            <a:r>
              <a:rPr lang="ko-KR" altLang="en-US" dirty="0"/>
              <a:t>    </a:t>
            </a:r>
            <a:r>
              <a:rPr lang="en-US" altLang="ko-KR" dirty="0"/>
              <a:t>-</a:t>
            </a:r>
            <a:r>
              <a:rPr lang="ko-KR" altLang="en-US" dirty="0"/>
              <a:t>  </a:t>
            </a:r>
            <a:r>
              <a:rPr lang="en-US" altLang="ko-KR" dirty="0"/>
              <a:t>Cliff</a:t>
            </a:r>
            <a:r>
              <a:rPr lang="ko-KR" altLang="en-US" dirty="0" err="1"/>
              <a:t>에</a:t>
            </a:r>
            <a:r>
              <a:rPr lang="ko-KR" altLang="en-US" dirty="0"/>
              <a:t> 떨어지면 게임 오버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69668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B769B-999A-E1BF-EF9C-F377BDCB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MDP – Cliff Walking</a:t>
            </a: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EE4EF650-7AC5-2A88-40E9-52ADF8558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73" y="1402080"/>
            <a:ext cx="5619327" cy="26122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A04315-4D9E-709D-E0FF-3E9E517573CC}"/>
              </a:ext>
            </a:extLst>
          </p:cNvPr>
          <p:cNvSpPr txBox="1"/>
          <p:nvPr/>
        </p:nvSpPr>
        <p:spPr>
          <a:xfrm>
            <a:off x="767443" y="4563836"/>
            <a:ext cx="51764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S: 서있을</a:t>
            </a:r>
            <a:r>
              <a:rPr lang="ko-KR" altLang="en-US" dirty="0"/>
              <a:t> 수 있는 모든 칸</a:t>
            </a:r>
            <a:endParaRPr lang="en-US" altLang="ko-KR" dirty="0"/>
          </a:p>
          <a:p>
            <a:r>
              <a:rPr lang="en-US" dirty="0"/>
              <a:t>A: </a:t>
            </a:r>
            <a:r>
              <a:rPr lang="en-US" dirty="0" err="1"/>
              <a:t>상하좌우</a:t>
            </a:r>
            <a:r>
              <a:rPr lang="ko-KR" altLang="en-US" dirty="0"/>
              <a:t> 이동</a:t>
            </a:r>
            <a:endParaRPr lang="en-US" altLang="ko-KR" dirty="0"/>
          </a:p>
          <a:p>
            <a:r>
              <a:rPr lang="en-US" altLang="ko-KR" dirty="0"/>
              <a:t>P:</a:t>
            </a:r>
            <a:r>
              <a:rPr lang="ko-KR" altLang="en-US" dirty="0"/>
              <a:t> 이동하려는 칸이 존재하면 </a:t>
            </a:r>
            <a:r>
              <a:rPr lang="en-US" altLang="ko-KR" dirty="0"/>
              <a:t>1,</a:t>
            </a:r>
            <a:r>
              <a:rPr lang="ko-KR" altLang="en-US" dirty="0"/>
              <a:t> 존재하지 않으면 </a:t>
            </a:r>
            <a:r>
              <a:rPr lang="en-US" altLang="ko-KR" dirty="0"/>
              <a:t>0</a:t>
            </a:r>
          </a:p>
          <a:p>
            <a:r>
              <a:rPr lang="en-US" altLang="ko-KR" dirty="0"/>
              <a:t>R: Cliff</a:t>
            </a:r>
            <a:r>
              <a:rPr lang="ko-KR" altLang="en-US" dirty="0" err="1"/>
              <a:t>에</a:t>
            </a:r>
            <a:r>
              <a:rPr lang="ko-KR" altLang="en-US" dirty="0"/>
              <a:t> 떨어지면 </a:t>
            </a:r>
            <a:r>
              <a:rPr lang="en-US" altLang="ko-KR" dirty="0"/>
              <a:t>–inf, </a:t>
            </a:r>
            <a:r>
              <a:rPr lang="ko-KR" altLang="en-US" dirty="0"/>
              <a:t>아니면 </a:t>
            </a:r>
            <a:r>
              <a:rPr lang="en-US" altLang="ko-KR" dirty="0"/>
              <a:t>-1</a:t>
            </a:r>
          </a:p>
          <a:p>
            <a:r>
              <a:rPr lang="en-US" altLang="ko-KR" dirty="0"/>
              <a:t>r: 0</a:t>
            </a:r>
            <a:r>
              <a:rPr lang="ko-KR" altLang="en-US" dirty="0"/>
              <a:t>이 아닌 양수</a:t>
            </a:r>
            <a:endParaRPr lang="en-US" altLang="ko-KR" dirty="0"/>
          </a:p>
        </p:txBody>
      </p:sp>
      <p:pic>
        <p:nvPicPr>
          <p:cNvPr id="6" name="Content Placeholder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69A9C235-9490-E04B-507C-FDC872E0E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57527" y="1478112"/>
            <a:ext cx="5169451" cy="2748835"/>
          </a:xfrm>
        </p:spPr>
      </p:pic>
    </p:spTree>
    <p:extLst>
      <p:ext uri="{BB962C8B-B14F-4D97-AF65-F5344CB8AC3E}">
        <p14:creationId xmlns:p14="http://schemas.microsoft.com/office/powerpoint/2010/main" val="2315605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F46E-5872-1F2D-C186-AB6B0A20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Policy</a:t>
            </a:r>
          </a:p>
        </p:txBody>
      </p:sp>
      <p:pic>
        <p:nvPicPr>
          <p:cNvPr id="5" name="Content Placeholder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E69C36B2-F454-C8E5-B2C8-FF49F94D6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65288"/>
            <a:ext cx="8527163" cy="226155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E5168-6486-44DF-443F-E23526B20BBE}"/>
              </a:ext>
            </a:extLst>
          </p:cNvPr>
          <p:cNvSpPr txBox="1"/>
          <p:nvPr/>
        </p:nvSpPr>
        <p:spPr>
          <a:xfrm>
            <a:off x="838200" y="4054566"/>
            <a:ext cx="6038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어떤 </a:t>
            </a:r>
            <a:r>
              <a:rPr lang="en-US" altLang="ko-KR" dirty="0"/>
              <a:t>state</a:t>
            </a:r>
            <a:r>
              <a:rPr lang="ko-KR" altLang="en-US" dirty="0" err="1"/>
              <a:t>에</a:t>
            </a:r>
            <a:r>
              <a:rPr lang="ko-KR" altLang="en-US" dirty="0"/>
              <a:t> 있을 때  특정 </a:t>
            </a:r>
            <a:r>
              <a:rPr lang="en-US" altLang="ko-KR" dirty="0"/>
              <a:t>action</a:t>
            </a:r>
            <a:r>
              <a:rPr lang="ko-KR" altLang="en-US" dirty="0"/>
              <a:t>을 선택할 확률을 나타냄</a:t>
            </a:r>
            <a:endParaRPr lang="en-US" altLang="ko-KR" dirty="0"/>
          </a:p>
          <a:p>
            <a:pPr marL="285750" indent="-285750">
              <a:buFont typeface="Symbol" pitchFamily="2" charset="2"/>
              <a:buChar char="Þ"/>
            </a:pPr>
            <a:r>
              <a:rPr lang="ko-KR" altLang="en-US" dirty="0"/>
              <a:t>어떻게 행동할 것인지를 나타냄</a:t>
            </a:r>
            <a:endParaRPr lang="en-US" altLang="ko-KR" dirty="0"/>
          </a:p>
          <a:p>
            <a:pPr marL="285750" indent="-285750">
              <a:buFont typeface="Symbol" pitchFamily="2" charset="2"/>
              <a:buChar char="Þ"/>
            </a:pPr>
            <a:r>
              <a:rPr lang="ko-KR" altLang="en-US" dirty="0"/>
              <a:t>우리가 강화학습으로 찾고자 하는 것은 </a:t>
            </a:r>
            <a:r>
              <a:rPr lang="en-US" altLang="ko-KR" dirty="0"/>
              <a:t>optimal policy</a:t>
            </a:r>
            <a:r>
              <a:rPr lang="ko-KR" altLang="en-US" dirty="0"/>
              <a:t>임</a:t>
            </a:r>
            <a:endParaRPr lang="en-K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49077B-CABC-27EF-9C63-342A661B7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05622"/>
            <a:ext cx="7772400" cy="94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8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ECC8-240A-16BA-C5F6-39F9F3A2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Value Function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BEB9371-83E9-5D77-8851-8B23074E2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549" y="1461056"/>
            <a:ext cx="5185411" cy="1562537"/>
          </a:xfrm>
        </p:spPr>
      </p:pic>
      <p:pic>
        <p:nvPicPr>
          <p:cNvPr id="7" name="Picture 6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164CBF72-8BDC-A3D4-9A19-357A9873B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49" y="4566527"/>
            <a:ext cx="5185410" cy="152673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617B36-08C4-0326-D539-9FE8531E4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49" y="3023593"/>
            <a:ext cx="5185410" cy="14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26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49D2-EF15-43A9-6819-72D9A86E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Optimal Value Function</a:t>
            </a:r>
          </a:p>
        </p:txBody>
      </p:sp>
      <p:pic>
        <p:nvPicPr>
          <p:cNvPr id="11" name="Picture 10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8094777-53DE-B5CF-3E26-268C42499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08" y="1837644"/>
            <a:ext cx="5550823" cy="2162855"/>
          </a:xfrm>
          <a:prstGeom prst="rect">
            <a:avLst/>
          </a:prstGeom>
        </p:spPr>
      </p:pic>
      <p:pic>
        <p:nvPicPr>
          <p:cNvPr id="13" name="Picture 12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938DA9AE-BA86-578A-5740-DE0C76D49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36" y="1690688"/>
            <a:ext cx="5562600" cy="360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97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F74F5-5791-409F-2187-EEA898F0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Bellman Equation - 1</a:t>
            </a:r>
          </a:p>
        </p:txBody>
      </p:sp>
      <p:pic>
        <p:nvPicPr>
          <p:cNvPr id="7" name="Picture 6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B850E8C0-7A6E-249C-29EA-5DD2652F9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37728"/>
            <a:ext cx="6992581" cy="348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7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C174-1236-AA0A-E8ED-9D221E45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Bellman Equation - 2</a:t>
            </a:r>
          </a:p>
        </p:txBody>
      </p:sp>
      <p:pic>
        <p:nvPicPr>
          <p:cNvPr id="6" name="Picture 5" descr="A diagram of a triangle with lines and points&#10;&#10;AI-generated content may be incorrect.">
            <a:extLst>
              <a:ext uri="{FF2B5EF4-FFF2-40B4-BE49-F238E27FC236}">
                <a16:creationId xmlns:a16="http://schemas.microsoft.com/office/drawing/2014/main" id="{88C73F72-D262-91FE-7EA4-F918456C7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9" y="1849255"/>
            <a:ext cx="5456893" cy="2869701"/>
          </a:xfrm>
          <a:prstGeom prst="rect">
            <a:avLst/>
          </a:prstGeom>
        </p:spPr>
      </p:pic>
      <p:pic>
        <p:nvPicPr>
          <p:cNvPr id="10" name="Picture 9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65033221-94AB-6482-1CEF-D6D8A4C72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17" y="1690688"/>
            <a:ext cx="5480743" cy="312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44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E480-E6E3-19F6-994C-BB953880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Bellman Equation - 3</a:t>
            </a:r>
          </a:p>
        </p:txBody>
      </p:sp>
      <p:pic>
        <p:nvPicPr>
          <p:cNvPr id="8" name="Content Placeholder 4" descr="A diagram of a triangle with mathematical equations&#10;&#10;AI-generated content may be incorrect.">
            <a:extLst>
              <a:ext uri="{FF2B5EF4-FFF2-40B4-BE49-F238E27FC236}">
                <a16:creationId xmlns:a16="http://schemas.microsoft.com/office/drawing/2014/main" id="{2FE54F87-1C92-0F29-4A3C-69318E306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79" y="1971900"/>
            <a:ext cx="7164037" cy="397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98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A69D-931D-3E94-2A36-D49C9684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Bellman Equation - 4</a:t>
            </a:r>
          </a:p>
        </p:txBody>
      </p:sp>
      <p:pic>
        <p:nvPicPr>
          <p:cNvPr id="4" name="Content Placeholder 4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EAA4A61F-4D12-5D89-ADAA-01C3DF725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053" y="2148980"/>
            <a:ext cx="5679480" cy="3416562"/>
          </a:xfrm>
          <a:prstGeom prst="rect">
            <a:avLst/>
          </a:prstGeom>
        </p:spPr>
      </p:pic>
      <p:pic>
        <p:nvPicPr>
          <p:cNvPr id="6" name="Picture 5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641DB215-C976-36ED-E63B-DE3AF8736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63" y="2012859"/>
            <a:ext cx="5784390" cy="368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70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2A4D7-9DBA-C0C1-0F52-ABBC2837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Policy Iteration - 1</a:t>
            </a:r>
          </a:p>
        </p:txBody>
      </p:sp>
      <p:pic>
        <p:nvPicPr>
          <p:cNvPr id="5" name="Content Placeholder 4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71B0F2AF-0174-79CE-DE90-7A105B8CF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3924"/>
            <a:ext cx="7324378" cy="425878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80E005-3FB1-CC37-DF22-5388FA7738BD}"/>
              </a:ext>
            </a:extLst>
          </p:cNvPr>
          <p:cNvSpPr txBox="1"/>
          <p:nvPr/>
        </p:nvSpPr>
        <p:spPr>
          <a:xfrm>
            <a:off x="7701697" y="1982470"/>
            <a:ext cx="4112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Short-Term Value: k번</a:t>
            </a:r>
            <a:r>
              <a:rPr lang="ko-KR" altLang="en-US" dirty="0"/>
              <a:t> </a:t>
            </a:r>
            <a:r>
              <a:rPr lang="ko-KR" altLang="en-US" dirty="0" err="1"/>
              <a:t>행동했을때</a:t>
            </a:r>
            <a:r>
              <a:rPr lang="ko-KR" altLang="en-US" dirty="0"/>
              <a:t> </a:t>
            </a:r>
            <a:r>
              <a:rPr lang="en-US" altLang="ko-KR" dirty="0"/>
              <a:t>value</a:t>
            </a:r>
          </a:p>
          <a:p>
            <a:r>
              <a:rPr lang="en-US" dirty="0" err="1"/>
              <a:t>무한번</a:t>
            </a:r>
            <a:r>
              <a:rPr lang="ko-KR" altLang="en-US" dirty="0"/>
              <a:t> 계산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k+1 = k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195297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705E-31BC-FCC9-6A04-8BF707C9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Policy Iteration - 2</a:t>
            </a:r>
          </a:p>
        </p:txBody>
      </p:sp>
      <p:pic>
        <p:nvPicPr>
          <p:cNvPr id="5" name="Content Placeholder 4" descr="A math equation with a chair and a symbol&#10;&#10;AI-generated content may be incorrect.">
            <a:extLst>
              <a:ext uri="{FF2B5EF4-FFF2-40B4-BE49-F238E27FC236}">
                <a16:creationId xmlns:a16="http://schemas.microsoft.com/office/drawing/2014/main" id="{74FB2948-2F87-F455-5A94-F88AFCA7B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890" y="2745740"/>
            <a:ext cx="4330700" cy="838200"/>
          </a:xfrm>
        </p:spPr>
      </p:pic>
      <p:pic>
        <p:nvPicPr>
          <p:cNvPr id="7" name="Picture 6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50D18075-E9A4-F306-9C3D-E271A1FE7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680" y="2223770"/>
            <a:ext cx="63500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642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932D-F11E-D295-4B14-C92D9EAB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Value Iteration</a:t>
            </a:r>
          </a:p>
        </p:txBody>
      </p:sp>
      <p:pic>
        <p:nvPicPr>
          <p:cNvPr id="5" name="Picture 4" descr="A math equation with a plus and a symbol&#10;&#10;AI-generated content may be incorrect.">
            <a:extLst>
              <a:ext uri="{FF2B5EF4-FFF2-40B4-BE49-F238E27FC236}">
                <a16:creationId xmlns:a16="http://schemas.microsoft.com/office/drawing/2014/main" id="{AD2AF172-E178-E236-61CB-41E01A6E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39" y="2428240"/>
            <a:ext cx="9230061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44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140</Words>
  <Application>Microsoft Macintosh PowerPoint</Application>
  <PresentationFormat>Widescreen</PresentationFormat>
  <Paragraphs>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Symbol</vt:lpstr>
      <vt:lpstr>Office Theme</vt:lpstr>
      <vt:lpstr>RL-1</vt:lpstr>
      <vt:lpstr>MDP (Markov Decision Process)</vt:lpstr>
      <vt:lpstr>Markov Chain</vt:lpstr>
      <vt:lpstr>Cliff Walking</vt:lpstr>
      <vt:lpstr>MDP – Cliff Walking</vt:lpstr>
      <vt:lpstr>Policy</vt:lpstr>
      <vt:lpstr>Value Function</vt:lpstr>
      <vt:lpstr>Optimal Value Function</vt:lpstr>
      <vt:lpstr>Bellman Equation - 1</vt:lpstr>
      <vt:lpstr>Bellman Equation - 2</vt:lpstr>
      <vt:lpstr>Bellman Equation - 3</vt:lpstr>
      <vt:lpstr>Bellman Equation - 4</vt:lpstr>
      <vt:lpstr>Policy Iteration - 1</vt:lpstr>
      <vt:lpstr>Policy Iteration - 2</vt:lpstr>
      <vt:lpstr>Value Iteration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이은준</dc:creator>
  <cp:lastModifiedBy>이은준</cp:lastModifiedBy>
  <cp:revision>54</cp:revision>
  <dcterms:created xsi:type="dcterms:W3CDTF">2025-09-13T14:22:23Z</dcterms:created>
  <dcterms:modified xsi:type="dcterms:W3CDTF">2025-09-13T18:52:56Z</dcterms:modified>
</cp:coreProperties>
</file>